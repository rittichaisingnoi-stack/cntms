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0" r:id="rId9"/>
    <p:sldId id="263" r:id="rId10"/>
    <p:sldId id="271" r:id="rId11"/>
    <p:sldId id="264" r:id="rId12"/>
    <p:sldId id="272" r:id="rId13"/>
    <p:sldId id="265" r:id="rId14"/>
    <p:sldId id="273" r:id="rId15"/>
    <p:sldId id="274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75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A3E8-7B45-0B96-222B-7012E807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29CC7-F382-EBCB-6922-2741C8AC6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E7785-5D3D-DC99-F09D-60728312C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19A6F-F286-A734-A606-3C9F48693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0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AB774-3A4B-0113-2CE1-8DDEFAF6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4F399-7621-2498-2CB8-E3E5D27A3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F967F-1001-D8B5-DB14-F8AB3BA0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51611-7DBE-9AF1-9078-4C6243493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930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40046-7A65-D5A8-FE94-4D408469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4FD97-40C7-17D5-40B1-140BC5E20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545B1-136D-A246-6295-A236850F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D2F09-10F0-3BF6-465B-9B2CD639B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22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2B61-4A9D-27B2-92AD-FCFDECFB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87085-BC23-9FDA-BC2C-EE0517D3E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226B6-2058-39B8-8F51-206A970AB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23F5F-0B40-36F3-0E61-84217E3D3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32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9B5A-5CEA-A807-CC0D-ECE4B38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F1D78-681A-E30D-197C-5EB3370E3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04EB2-3F6D-BAB7-F657-F559A5229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A258D-AAFB-7F51-BCEA-E08CEA31D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82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827B-0759-F65B-6ED3-340E0174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48B1E-E0F5-2AAD-3188-0C56256AD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6CE14-3762-D53D-6DCE-BA43D2565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5144-029C-A5EC-5897-C76CD9338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888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ntms.onrend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8229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MANUAL • VENDOR ROLE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คู่มือการใช้งานระบบ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CN Management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ขั้นตอนและแนวทางปฏิบัติงานสำหรับผู้รับเหมาขนส่ง (Vendor)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7315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93124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84564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บันทึกวันรับจริง-กลับคลัง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4564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คีย์รายใบ หรือ บันทึกพร้อมกัน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21924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13364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จัดการผ่าน Excel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13364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Data &amp; Upload ไฟล์เดียว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50724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2164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ติดตาม KPI ของตัวเอง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42164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วิเคราะห์เวลาทำงาน 3 ช่วง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คลังสินค้า WH08 • บริษัทและทีมงานบริหารการขนส่งสินค้าคืน (Return Goods - RG) • เวอร์ชัน 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ภาพรวมหลักสูตร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สารบัญเนื้อหาการอบรม (Agenda)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1362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1362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344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ภาพรวมระบบและบทบาทหน้าที่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581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ความสำคัญของระบบ CN TMS และขั้นตอน Flow งานตั้งแต่ต้นจนจบ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68680" y="2185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8680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167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การเข้าสู่ระบบ (Login)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404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การลงชื่อเข้าใช้งานด้วยสิทธิ์ Vendor และการดูหน้าจอหลัก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68680" y="30083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2990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หน้าจอ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227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ติดตามงานค้าง, สิ่งที่ต้องลงมือ และความคืบหน้าการปิดงาน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68680" y="38313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86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"งานของฉัน" (My Jobs)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050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การค้นหาอัจฉริยะ, กรองสถานะ และการจัดกลุ่มข้อมูล (Group By)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2" y="1225296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00602" y="13533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60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2" y="13350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3 รูปแบบ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2" y="1572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คีย์รายใบ (Pop-up), อัปเดตพร้อมกัน (Bulk Bar), และจัดการผ่าน Excel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2" y="2048256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800602" y="2176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0060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2" y="2157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"KPI" ติดตามประสิทธิภาพ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2" y="23957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เกณฑ์เวลาเฉลี่ย 3 ช่วง, วิเคราะห์ข้อมูล และการ Export รายงาน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2" y="2871216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00602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60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2" y="2980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กฎเหล็ก &amp; ข้อควรระวังสำคัญ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2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กติกาการลงวันที่, หมวดสินค้า, การปิดงาน และข้อห้ามสำคัญ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1: ภาพรวมระบบ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ภาพรวมระบบ และขั้นตอนการทำงาน (End-to-End Flow)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 CN TMS ออกแบบมาเพื่อบริหารจัดการสินค้าคืน (Return Goods - RG) ตั้งแต่ออเดอร์ถูกสร้างขึ้น จนสินค้าเข้าคลังสำเร็จ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โดยระบบเชื่อมโยง 3 บทบาทหลักเข้าด้วยกันแบบไร้รอยต่อ: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267712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Admin Transport (NEO-C)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นำเข้าไฟล์ All_RG.xlsx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Auto-assign ให้ Vendor ตามพื้นที่/ร้านค้า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จัดการ User, พื้นที่ และกำกับดูแลภาพรวม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46704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38144" y="1737360"/>
            <a:ext cx="2267712" cy="32004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3864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Vendor (ผู้รับเหมาขนส่ง) 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3864" y="214884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รับมอบหมายงาน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ไปรับสินค้าจริง และนำสินค้ากลับคืนคลัง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บันทึกวันรับ, วันกลับคลัง, หมวด/เหตุผล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ติดตาม KPI การทำงานของตนเอง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61888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53328" y="1737360"/>
            <a:ext cx="2267712" cy="320040"/>
          </a:xfrm>
          <a:prstGeom prst="roundRect">
            <a:avLst>
              <a:gd name="adj" fmla="val 11429"/>
            </a:avLst>
          </a:prstGeom>
          <a:solidFill>
            <a:srgbClr val="FAF5FF"/>
          </a:solidFill>
          <a:ln w="12700">
            <a:solidFill>
              <a:srgbClr val="FAF5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9048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GR (ทีมคลังสินค้า WH08)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9048" y="214884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อัปโหลดไฟล์ ReportRG เมื่อสินค้าเข้าคลัง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ตรวจสอบ Remark กรณีสินค้าไม่สมบูรณ์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ปิดงานออเดอร์ (Completed) เข้าระบบคลัง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7680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400" y="36393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วงจรสถานะออเดอร์ (Order Lifecycle):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รอจัดพื้นที่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5740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7744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มอบหมายแล้ว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4048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รับสินค้าแล้ว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0352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นำกลับคลังแล้ว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6656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ปิดงานสมบูรณ์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4400" y="43891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จุดที่ Vendor รับผิดชอบลงมือ: มอบหมายแล้ว ➔ รับสินค้าแล้ว ➔ นำกลับคลังแล้ว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731520" y="118872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2: การเข้าสู่ระบบ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การเข้าสู่ระบบ และการนำทางหลัก (Login &amp; Navigation)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ขั้นตอนการเข้าใช้งานระบบ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เปิดเว็บบราวเซอร์ (แนะนำ Google Chrome หรือ Microsoft Edge)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399" y="2194560"/>
            <a:ext cx="8356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</a:t>
            </a:r>
            <a:r>
              <a:rPr lang="en-US" sz="9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เข้าสู่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URL 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กรอก Username (ชื่อผู้ใช้) และ Password (รหัสผ่าน) ของบริษัทตนเอง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กดปุ่ม "เข้าสู่ระบบ"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ระบบจะตรวจสอบสิทธิ์และพาเข้าหน้า Vendor โดยอัตโนมัติ (ไม่ต้องเลือก Role)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ชื่อบริษัทขนส่งของคุณจะปรากฏที่มุมขวาบนของหน้าเว็บ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18872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344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โครงสร้าง 3 เมนูหลักของ Vendor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9385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หน้าแรกสรุปภาพรวม: งานค้าง, สิ่งที่ต้องทำทันที, ความคืบหน้าการปิดงาน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21762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งานของฉัน (My Jobs)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ศูนย์จัดการออเดอร์: ค้นหา, กรอง, พิมพ์ใบงาน, คีย์วันที่ และส่งไฟล์ Excel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6151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816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รายงานประสิทธิภาพ: เช็คค่าเฉลี่ยระยะเวลาทำงาน 3 ช่วง และ Export Excel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32918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3440" y="3429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ข้อแนะนำด้านความปลอดภัย (Security Tips)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บัญชีผู้ใช้ผูกกับงานของบริษัทขนส่งท่านเท่านั้น จะไม่เห็นงานของเจ้าอื่น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เมื่อเลิกใช้งาน ให้กดปุ่ม "ออกจากระบบ" (Sign Out) บริเวณมุมขวาบนทุกครั้ง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กรณีลืมรหัสผ่าน </a:t>
            </a:r>
            <a:r>
              <a:rPr lang="en-US" sz="8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ให้ติดต่อแอดเพื่อรีเซ็ต</a:t>
            </a: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Password</a:t>
            </a:r>
            <a:endParaRPr lang="en-US" sz="850" dirty="0"/>
          </a:p>
        </p:txBody>
      </p:sp>
      <p:sp>
        <p:nvSpPr>
          <p:cNvPr id="26" name="Text 8">
            <a:hlinkClick r:id="rId3"/>
            <a:extLst>
              <a:ext uri="{FF2B5EF4-FFF2-40B4-BE49-F238E27FC236}">
                <a16:creationId xmlns:a16="http://schemas.microsoft.com/office/drawing/2014/main" id="{3BB1DEB7-BB78-F4DC-07A2-877B3AA55D3A}"/>
              </a:ext>
            </a:extLst>
          </p:cNvPr>
          <p:cNvSpPr/>
          <p:nvPr/>
        </p:nvSpPr>
        <p:spPr>
          <a:xfrm>
            <a:off x="1695575" y="2176272"/>
            <a:ext cx="2149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u="sng" dirty="0">
                <a:solidFill>
                  <a:srgbClr val="000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https://cntms.onrender.com</a:t>
            </a:r>
            <a:endParaRPr lang="en-US" sz="1050" b="1" u="sng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3: หน้าจอ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หน้าแรก Dashboard — ศูนย์รวมข้อมูลและงานค้าง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สวัสดีตอนเช้า, บริษัท ขนส่งตัวอย่าง จำกัด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ภาพรวมงานของคุณ • วันอังคารที่ 22 กันยายน 2569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41732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83680" y="1417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12 งานค้าง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235915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สิ่งที่ต้องลงมือทันที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265176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0120" y="27249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รอรับสินค้า (8 งาน)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ยังไม่ได้กรอกวันที่รับจริง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รีบอัปเดตเมื่อรับของแล้ว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8680" y="361188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0120" y="36850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รอนำกลับคลัง (4 งาน)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9959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รับแล้ว รอนำสินค้ากลับ WH08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และลงวันกลับคลังจริง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37560" y="224028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4720" y="235915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ความคืบหน้าการปิดงาน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697480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474720" y="2697480"/>
            <a:ext cx="1600200" cy="32004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74720" y="2697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ปิดงานแล้ว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0" y="315468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สถานะออเดอร์ทั้งหมด (48 งาน):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ปิดงานแล้ว (เขียว): 36 งาน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รอปิดงานที่คลัง (ส้ม): 4 งาน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อยู่ระหว่างดำเนินการ (แดง): 8 งาน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แนะนำ: เช็คยอดนี้ทุกเช้าเพื่อไม่ให้มีงานค้างตกหล่น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224028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80760" y="2359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เวลาเฉลี่ยของคุณ (วัน)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269748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72200" y="2743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พิมพ์ ➔ รับสินค้า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29443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 วัน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29184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72200" y="3337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รับ ➔ กลับคลัง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72200" y="3538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 วัน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88620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72200" y="3931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รับ ➔ ปิดงาน (เกิน 3 วัน)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4133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 วัน ⚠️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FA15-8B8F-2062-AFC9-F1304F23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55D62-E2A5-29A0-2CE9-8FBCF9A0C947}"/>
              </a:ext>
            </a:extLst>
          </p:cNvPr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3: หน้าจอ DASHBOARD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775EB3-E1EF-2898-FB00-E62C5F048E01}"/>
              </a:ext>
            </a:extLst>
          </p:cNvPr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ตัวอย่าง </a:t>
            </a:r>
            <a:r>
              <a:rPr lang="en-US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หน้าแรก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Dashboard — ศูนย์รวมข้อมูลและงานค้าง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545BA1-7D5B-01D4-E2DD-6F3251AAD70C}"/>
              </a:ext>
            </a:extLst>
          </p:cNvPr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43C0AA-D06C-F563-19F5-EB1DBE75141F}"/>
              </a:ext>
            </a:extLst>
          </p:cNvPr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23A87AA-8032-E5FB-9987-6F4E216AD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07" y="1006283"/>
            <a:ext cx="4889074" cy="36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9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4: ค้นหาและคัดกรองงาน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"งานของฉัน" — การค้นหา คัดกรอง และจัดกลุ่มงาน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7680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1. ช่องค้นหาอัจฉริยะ (Smart Multi-Keyword Search)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ค้นหาได้พร้อมกันจากหลายข้อมูล: เลขที่ RG, รหัสร้านค้า (Sold To / Ship To), ชื่อร้านค้า, อำเภอ, จังหวัด, เขต, และเหตุผล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กฎการเว้นวรรค (AND): พิมพ์ "116069 บางปะกง" ➔ ผลลัพธ์ต้องมีทั้งสองคำ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กฎเครื่องหมายจุลภาค (OR): พิมพ์ "บางปะกง, เมืองชลบุรี" ➔ ดึงผลลัพธ์ที่เป็นอำเภอใดอำเภอหนึ่งขึ้นมาพร้อมกัน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2. ตัวกรองสถานะ (Status Filter)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ทุกสถานะ: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ดูประวัติและงานทั้งหมดในระบบ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2826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มอบหมายแล้ว: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2826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งานใหม่ที่ต้องพิมพ์ใบงาน &amp; ออกไปรับของ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รับสินค้าแล้ว: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3593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รับของแล้ว อยู่ระหว่างรอนำกลับเข้าคลัง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3904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นำกลับคลังแล้ว: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904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ส่งของคืนคลังแล้ว รอคลัง (GR) ตรวจนับ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4215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ปิดงาน: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03120" y="4215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สินค้าเข้าคลังและปิดเอกสารเรียบร้อย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9204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3. การจัดกลุ่มข้อมูล (Group By)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9718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เลือกจัดกลุ่มรายการเพื่อวางแผนจัดส่งหรือเลือกติ๊กงานเป็นชุดได้ง่าย: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เขต / พื้นที่ (Zone)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อำเภอ / จังหวัด (ช่วยวางแผนเส้นทางเดินรถ)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รหัสร้านค้า (Sold To Code) / ชื่อร้านค้า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วันที่พิมพ์ (RG Date) / วันที่มอบหมาย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ประโยชน์: สามารถคลิก "เลือกทั้งหมดในกลุ่ม" ได้ทันทีในคลิกเดียว!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BA52F-79A3-EF10-4E04-DF0B9399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48514D4-7786-8ED4-351B-F706F544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52144"/>
            <a:ext cx="8040224" cy="331691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CAEFA94-E7AD-EC48-5ACA-93E836A832B7}"/>
              </a:ext>
            </a:extLst>
          </p:cNvPr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4: ค้นหาและคัดกรองงาน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48896E-B3E0-4BD6-DF5A-3EB240AFD87A}"/>
              </a:ext>
            </a:extLst>
          </p:cNvPr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ตัวอย่าง 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"งานของฉัน" —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การค้นหา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คัดกรอง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และจัดกลุ่มงาน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75E6DD-7CFE-C6D9-8B34-3FAA38959D41}"/>
              </a:ext>
            </a:extLst>
          </p:cNvPr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6C656B-055E-0137-7879-B73A1B953056}"/>
              </a:ext>
            </a:extLst>
          </p:cNvPr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99FBB6-FD86-233A-B457-86ADBB5F1FED}"/>
              </a:ext>
            </a:extLst>
          </p:cNvPr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2B50700-3116-EAD7-A262-4246E0F3EBA2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1628964" y="1247315"/>
            <a:ext cx="1511829" cy="5021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7">
            <a:extLst>
              <a:ext uri="{FF2B5EF4-FFF2-40B4-BE49-F238E27FC236}">
                <a16:creationId xmlns:a16="http://schemas.microsoft.com/office/drawing/2014/main" id="{FADDFB1A-4D3C-C1D4-29BF-DDB35BDB9E99}"/>
              </a:ext>
            </a:extLst>
          </p:cNvPr>
          <p:cNvSpPr/>
          <p:nvPr/>
        </p:nvSpPr>
        <p:spPr>
          <a:xfrm>
            <a:off x="3140793" y="881555"/>
            <a:ext cx="44599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700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ค้นหาได้พร้อมกันจากหลายข้อมูล: เลขที่ RG, รหัสร้านค้า (Sold To / Ship To), ชื่อร้านค้า, อำเภอ, จังหวัด, เขต, และเหตุผล</a:t>
            </a:r>
            <a:endParaRPr lang="en-US" sz="700" dirty="0">
              <a:solidFill>
                <a:srgbClr val="FF0000"/>
              </a:solidFill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700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กฎการเว้นวรรค (AND): พิมพ์ "116069 บางปะกง" ➔ ผลลัพธ์ต้องมีทั้งสองคำ</a:t>
            </a:r>
            <a:endParaRPr lang="en-US" sz="700" dirty="0">
              <a:solidFill>
                <a:srgbClr val="FF0000"/>
              </a:solidFill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700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กฎเครื่องหมายจุลภาค (OR): พิมพ์ "บางปะกง, เมืองชลบุรี" ➔ ดึงผลลัพธ์ที่เป็นอำเภอใดอำเภอหนึ่งขึ้นมาพร้อมกัน</a:t>
            </a:r>
            <a:endParaRPr lang="en-US" sz="700" dirty="0">
              <a:solidFill>
                <a:srgbClr val="FF0000"/>
              </a:solidFill>
            </a:endParaRP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3C121C79-12F0-831A-9C01-2EFEE67E3692}"/>
              </a:ext>
            </a:extLst>
          </p:cNvPr>
          <p:cNvSpPr/>
          <p:nvPr/>
        </p:nvSpPr>
        <p:spPr>
          <a:xfrm>
            <a:off x="5354746" y="2216579"/>
            <a:ext cx="1515695" cy="281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sz="800" b="1" dirty="0" err="1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ตัวกรองสถานะ</a:t>
            </a:r>
            <a:r>
              <a:rPr lang="en-US" sz="8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(Status Filter)</a:t>
            </a:r>
            <a:endParaRPr lang="en-US" sz="700" dirty="0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AAE58A8-96BF-9E4F-B404-1EF8C42E819C}"/>
              </a:ext>
            </a:extLst>
          </p:cNvPr>
          <p:cNvCxnSpPr>
            <a:cxnSpLocks/>
          </p:cNvCxnSpPr>
          <p:nvPr/>
        </p:nvCxnSpPr>
        <p:spPr>
          <a:xfrm flipV="1">
            <a:off x="6668278" y="1749471"/>
            <a:ext cx="416767" cy="5653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7">
            <a:extLst>
              <a:ext uri="{FF2B5EF4-FFF2-40B4-BE49-F238E27FC236}">
                <a16:creationId xmlns:a16="http://schemas.microsoft.com/office/drawing/2014/main" id="{5AF75D41-A477-F60E-1437-C5F3227630E1}"/>
              </a:ext>
            </a:extLst>
          </p:cNvPr>
          <p:cNvSpPr/>
          <p:nvPr/>
        </p:nvSpPr>
        <p:spPr>
          <a:xfrm>
            <a:off x="7039917" y="2216579"/>
            <a:ext cx="1776955" cy="281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sz="800" b="1" dirty="0" err="1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การจัดกลุ่มข้อมูล</a:t>
            </a:r>
            <a:r>
              <a:rPr lang="en-US" sz="8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(Group By)</a:t>
            </a:r>
            <a:endParaRPr lang="en-US" sz="700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2BED4C2-1BB8-26B6-E385-4AD4BD7C1B0B}"/>
              </a:ext>
            </a:extLst>
          </p:cNvPr>
          <p:cNvCxnSpPr>
            <a:cxnSpLocks/>
          </p:cNvCxnSpPr>
          <p:nvPr/>
        </p:nvCxnSpPr>
        <p:spPr>
          <a:xfrm flipV="1">
            <a:off x="8064448" y="1749471"/>
            <a:ext cx="416767" cy="5653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906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731520" y="118872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5.1: คีย์ข้อมูลรายใบ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วิธีที่ 1: กรอกรายใบผ่าน Pop-up Modal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การบันทึกวันที่จริง (รายใบ)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เหมาะสำหรับ: งานที่มีการระบุรายละเอียดเฉพาะเจาะจง หรือต้องการแตกแถวหมวดสินค้าหลายรายการ
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วันที่รับสินค้าจริง (Received Date)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กรอกวันที่ที่พนักงานเข้ารับสินค้าจากร้านค้าจริง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⚠️ ห้ามกรอกวันล่วงหน้า (ทำเสร็จแล้วค่อยกรอก)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"บันทึกรับ"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วันนำสินค้ากลับคืนคลัง (Returned Date)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0998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กรอกวันที่สินค้าถูกนำมาส่งคืน ณ คลัง WH08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ใส่วันล่วงหน้าได้ (แพลนส่ง) แต่ต้องไม่น้อยกว่าวันที่รับ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"บันทึกกลับคลัง"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กรณีงานปิดแล้ว (Completed)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770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ระบบจะล็อกอัตโนมัติ ไม่สามารถแก้ไขวันที่ได้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2040" y="1325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การบันทึกหมวด + เหตุผล + จำนวน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3337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ในหน้าต่างเดียวกัน ด้านล่างจะมีตารางจัดการหมวดสินค้า: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กดปุ่ม "＋ เพิ่มแถว" เพื่อเพิ่มรายการหมวด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เลือก หมวด จาก Dropdown: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สินค้าชำรุด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สินค้าหมดอายุ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ลด Stock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อื่นๆ (⚠️ บังคับพิมพ์เหตุผลประกอบเสมอ)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กรอก จำนวนที่รับคืน (ตัวเลขไม่ติดลบ)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ระบุ หน่วย (เลือกจากรายการ เช่น กล่อง, ชิ้น, ลัง, แพ็ค, ถุง หรือพิมพ์เอง)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กดปุ่ม "บันทึกหมวด+เหตุผล" (สามารถเพิ่มได้หลายแถวใน 1 ออเดอร์)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B09F-7BDF-B836-F364-69CD8ED2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227F83-D8A8-68FF-17FB-8941C33C64E3}"/>
              </a:ext>
            </a:extLst>
          </p:cNvPr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5.1: คีย์ข้อมูลรายใบ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AE5E53-E69C-D367-BC5D-D12A0D96DD93}"/>
              </a:ext>
            </a:extLst>
          </p:cNvPr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h-TH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ตัวอย่าง </a:t>
            </a:r>
            <a:r>
              <a:rPr lang="en-US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วิธีที่ 1: กรอกรายใบผ่าน Pop-up Modal</a:t>
            </a:r>
            <a:r>
              <a:rPr lang="en-US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รายใบ</a:t>
            </a:r>
            <a:r>
              <a:rPr lang="en-US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8606DB8-FBBE-3108-A22D-1A5B5FE5452A}"/>
              </a:ext>
            </a:extLst>
          </p:cNvPr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9C52B9-B7F7-2D64-92B6-C20C1A8D0574}"/>
              </a:ext>
            </a:extLst>
          </p:cNvPr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CDC67CE-2C59-6A89-349F-3261F50E68AA}"/>
              </a:ext>
            </a:extLst>
          </p:cNvPr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EA199DB-FF94-EB3C-CF95-C9E62CF8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09559"/>
            <a:ext cx="7315200" cy="427079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D7EE9A5B-1B2C-BBBD-D754-E3D430FFE17B}"/>
              </a:ext>
            </a:extLst>
          </p:cNvPr>
          <p:cNvSpPr/>
          <p:nvPr/>
        </p:nvSpPr>
        <p:spPr>
          <a:xfrm>
            <a:off x="731520" y="1109013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</a:t>
            </a:r>
            <a:r>
              <a:rPr lang="th-TH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คลิ๊กที่รูปดินสอ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60138D-2605-BC3E-1663-355836BD3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534" y="1122231"/>
            <a:ext cx="152030" cy="135741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13B59AD9-8BC2-D3B5-DBF8-C7168FD14708}"/>
              </a:ext>
            </a:extLst>
          </p:cNvPr>
          <p:cNvSpPr/>
          <p:nvPr/>
        </p:nvSpPr>
        <p:spPr>
          <a:xfrm rot="12887555">
            <a:off x="1136223" y="1599798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269938A-CBB4-EACF-7BC5-05AAAA7CAB81}"/>
              </a:ext>
            </a:extLst>
          </p:cNvPr>
          <p:cNvSpPr/>
          <p:nvPr/>
        </p:nvSpPr>
        <p:spPr>
          <a:xfrm>
            <a:off x="731520" y="1906449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</a:t>
            </a:r>
            <a:r>
              <a:rPr lang="th-TH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กรอกรายละเอียด หรือเลือก 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Dorp down list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BBDCF58-B4C7-970C-0161-CC5D450FD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440" y="2230240"/>
            <a:ext cx="2477640" cy="2491374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AFA5D36E-0CA4-8533-E46F-4043CC84DB74}"/>
              </a:ext>
            </a:extLst>
          </p:cNvPr>
          <p:cNvSpPr/>
          <p:nvPr/>
        </p:nvSpPr>
        <p:spPr>
          <a:xfrm>
            <a:off x="4346259" y="3077031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 วันที่รับสินค้าจริง (Received Date) </a:t>
            </a:r>
            <a:r>
              <a:rPr lang="th-TH" sz="9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และกดบันทึกรับ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A2A2CD30-5EBA-600C-06B5-EE9E2C31EAC6}"/>
              </a:ext>
            </a:extLst>
          </p:cNvPr>
          <p:cNvSpPr/>
          <p:nvPr/>
        </p:nvSpPr>
        <p:spPr>
          <a:xfrm>
            <a:off x="4346259" y="3495627"/>
            <a:ext cx="369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2.2 วันนำสินค้ากลับคืนคลัง (Returned Date)</a:t>
            </a:r>
            <a:r>
              <a:rPr lang="th-TH" sz="9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และกดบันทึกกลับคลัง</a:t>
            </a:r>
            <a:endParaRPr lang="en-US" sz="900" dirty="0">
              <a:solidFill>
                <a:srgbClr val="FF0000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95F666-F4E0-AB6C-E431-3BA4D27B251C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3481987" y="3177615"/>
            <a:ext cx="864272" cy="2703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C6461E-C631-E260-500E-8A907AEE9E35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3383919" y="3596211"/>
            <a:ext cx="962340" cy="187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15">
            <a:extLst>
              <a:ext uri="{FF2B5EF4-FFF2-40B4-BE49-F238E27FC236}">
                <a16:creationId xmlns:a16="http://schemas.microsoft.com/office/drawing/2014/main" id="{53ED9A4C-B61D-F7C7-46CE-72D1C0416AE0}"/>
              </a:ext>
            </a:extLst>
          </p:cNvPr>
          <p:cNvSpPr/>
          <p:nvPr/>
        </p:nvSpPr>
        <p:spPr>
          <a:xfrm>
            <a:off x="4394704" y="4476571"/>
            <a:ext cx="38712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2.3 การบันทึกหมวด + เหตุผล + </a:t>
            </a:r>
            <a:r>
              <a:rPr lang="en-US" sz="900" b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จำนวน</a:t>
            </a:r>
            <a:r>
              <a:rPr lang="en-US" sz="9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h-TH" sz="9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และกดบันทึก</a:t>
            </a:r>
            <a:r>
              <a:rPr lang="en-US" sz="9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900" b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หมวด</a:t>
            </a:r>
            <a:r>
              <a:rPr lang="en-US" sz="9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sz="900" b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เหตุผล</a:t>
            </a:r>
            <a:r>
              <a:rPr lang="en-US" sz="9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7E1B6C0-563D-6020-D989-623BC1BD28D0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2234527" y="4436126"/>
            <a:ext cx="2160177" cy="168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6DE0A375-B9F8-25C6-4907-94DB0A7EA345}"/>
              </a:ext>
            </a:extLst>
          </p:cNvPr>
          <p:cNvSpPr/>
          <p:nvPr/>
        </p:nvSpPr>
        <p:spPr>
          <a:xfrm rot="12887555">
            <a:off x="3949952" y="3476112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E455179F-E3C2-4307-BE01-28FCE4C560D8}"/>
              </a:ext>
            </a:extLst>
          </p:cNvPr>
          <p:cNvSpPr/>
          <p:nvPr/>
        </p:nvSpPr>
        <p:spPr>
          <a:xfrm rot="12887555">
            <a:off x="3949952" y="3819800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90B9E1DA-D49C-8E01-A149-A5AE9EA345FB}"/>
              </a:ext>
            </a:extLst>
          </p:cNvPr>
          <p:cNvSpPr/>
          <p:nvPr/>
        </p:nvSpPr>
        <p:spPr>
          <a:xfrm rot="12887555">
            <a:off x="2270356" y="4570902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2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5.2: บันทึกงานเป็นกลุ่ม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วิธีที่ 2: อัปเดตพร้อมกันหลายใบ (Bulk Action Bar)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เหมาะสำหรับ: ขนส่งออกไปรับสินค้าพร้อมกันหลายร้าน หรือนำสินค้ากลับคืนคลังเป็นล็อตใหญ่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ช่วยประหยัดเวลาอย่างมากโดยไม่ต้องเปิดทีละใบ: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ติ๊กเลือกรายการที่ต้องการ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ติ๊ก Checkbox หน้าแถวออเดอร์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หรือติ๊กช่อง "เลือกทั้งหมด" ที่หัวตาราง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หรือติ๊ก "เลือกทั้งกลุ่ม" กรณีจัดกลุ่มไว้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สามารถเลือกได้ตั้งแต่ 2 ถึงหลายสิบใบพร้อมกัน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20440" y="16916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204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แถบด้านล่างจะเปิดขึ้น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หน้าจอจะแสดงแถบ Action Bar สีน้ำเงินที่ขอบล่าง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มีตัวเลขนับจำนวนใบที่เลือก เช่น "เลือก 15 รายการ"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แสดงช่องให้กรอกข้อมูลรวดเดียว: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วันที่รับสินค้า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วันกลับคลัง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หมวด &amp; เหตุผล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จำนวนคืน &amp; หน่วย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5544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26480" y="16916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กดปุ่ม "💾 บันทึก"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1945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ระบบจะอัปเดตทุกใบที่เลือกพร้อมกันในคลิกเดียว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ช่องที่ไม่ได้กรอกจะไม่ไปทับข้อมูลเดิม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งานที่ปิดแล้วจะถูกข้ามให้อัตโนมัติ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หากพบวันที่ผิดลำดับ ระบบจะแจ้งเตือนรายชื่อใบที่ข้ามให้ทราบทันที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F191-7131-041A-32F3-9015F2CA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8BA977B-282F-46FC-51C9-85DD57B4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55" y="2675489"/>
            <a:ext cx="7315200" cy="246801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B341DF1-0A65-B418-3FB0-F87817DE1BB2}"/>
              </a:ext>
            </a:extLst>
          </p:cNvPr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5.2: บันทึกงานเป็นกลุ่ม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EBFD67-589D-2BF1-4D4E-16F4B7B6AF0A}"/>
              </a:ext>
            </a:extLst>
          </p:cNvPr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ตัวอย่าง </a:t>
            </a:r>
            <a:r>
              <a:rPr lang="en-US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วิธีที่ 2: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อัปเดตพร้อมกันหลายใบ</a:t>
            </a:r>
            <a:r>
              <a:rPr lang="th-TH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พร้อมกัน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D921CE-D208-9B94-01BE-FF45E6AD3DD5}"/>
              </a:ext>
            </a:extLst>
          </p:cNvPr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D717B3-20B7-72B0-2AF4-B972881B710B}"/>
              </a:ext>
            </a:extLst>
          </p:cNvPr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63694D-ABB6-A544-0783-554579F0BCFF}"/>
              </a:ext>
            </a:extLst>
          </p:cNvPr>
          <p:cNvSpPr/>
          <p:nvPr/>
        </p:nvSpPr>
        <p:spPr>
          <a:xfrm>
            <a:off x="731520" y="99669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เหมาะสำหรับ: ขนส่งออกไปรับสินค้าพร้อมกันหลายร้าน </a:t>
            </a:r>
            <a:r>
              <a:rPr lang="en-US" sz="9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หรือนำสินค้ากลับคืนคลังเป็นล็อตใหญ่</a:t>
            </a:r>
            <a:r>
              <a:rPr lang="th-TH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ช่วยประหยัดเวลาอย่างมากโดยไม่ต้องเปิดทีละใบ</a:t>
            </a: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endParaRPr lang="en-US" sz="9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6661A06-EB74-8586-CA8A-4187E61A7571}"/>
              </a:ext>
            </a:extLst>
          </p:cNvPr>
          <p:cNvSpPr/>
          <p:nvPr/>
        </p:nvSpPr>
        <p:spPr>
          <a:xfrm>
            <a:off x="731520" y="1296238"/>
            <a:ext cx="19753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</a:t>
            </a:r>
            <a:r>
              <a:rPr lang="en-US" sz="10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ติ๊กเลือกรายการที่ต้องการ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DE9A0F-6A6E-D29B-DA08-CAF7AC77E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455" y="1568572"/>
            <a:ext cx="7315200" cy="709186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DBA01D6E-F7B8-5CB4-04B3-2CC32A03D017}"/>
              </a:ext>
            </a:extLst>
          </p:cNvPr>
          <p:cNvSpPr/>
          <p:nvPr/>
        </p:nvSpPr>
        <p:spPr>
          <a:xfrm rot="12887555">
            <a:off x="1165884" y="2085081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C8B9187-2370-2441-79C5-C298B6165577}"/>
              </a:ext>
            </a:extLst>
          </p:cNvPr>
          <p:cNvSpPr/>
          <p:nvPr/>
        </p:nvSpPr>
        <p:spPr>
          <a:xfrm rot="12887555">
            <a:off x="1165884" y="1894901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A82468B0-3DBE-3D75-2D21-B2A8FEA4C44E}"/>
              </a:ext>
            </a:extLst>
          </p:cNvPr>
          <p:cNvSpPr/>
          <p:nvPr/>
        </p:nvSpPr>
        <p:spPr>
          <a:xfrm>
            <a:off x="731519" y="2360531"/>
            <a:ext cx="7539136" cy="479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2. </a:t>
            </a:r>
            <a:r>
              <a:rPr lang="en-US" sz="1000" b="1" dirty="0" err="1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แถบด้านล่างจะเปิดขึ้น</a:t>
            </a: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th-TH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และทำการกรอกรายเอียด เช่นวันที่รับสินค้า </a:t>
            </a: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, </a:t>
            </a:r>
            <a:r>
              <a:rPr lang="th-TH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วันกลับคลัง </a:t>
            </a: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, </a:t>
            </a:r>
            <a:r>
              <a:rPr lang="th-TH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จำนวน (กรณีที่สินค้าจริงไม่ตรงกับเอกสาร)</a:t>
            </a: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th-TH" sz="1000" b="1" dirty="0">
                <a:solidFill>
                  <a:srgbClr val="0D47A1"/>
                </a:solidFill>
                <a:latin typeface="Segoe UI" pitchFamily="34" charset="0"/>
                <a:cs typeface="Segoe UI" pitchFamily="34" charset="-120"/>
              </a:rPr>
              <a:t>และกรณีที่ไม่สามารถไปรับให้เลือกที่หมวด จากทำการบันทึก</a:t>
            </a:r>
            <a:endParaRPr lang="en-US" sz="1000" b="1" dirty="0">
              <a:solidFill>
                <a:srgbClr val="0D47A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B1A5F7FE-675A-6934-7375-9EB5B92B703F}"/>
              </a:ext>
            </a:extLst>
          </p:cNvPr>
          <p:cNvSpPr/>
          <p:nvPr/>
        </p:nvSpPr>
        <p:spPr>
          <a:xfrm rot="12887555">
            <a:off x="2142488" y="5005105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F4E47F2-A9B8-5E31-F7AB-80F80C0AB469}"/>
              </a:ext>
            </a:extLst>
          </p:cNvPr>
          <p:cNvSpPr/>
          <p:nvPr/>
        </p:nvSpPr>
        <p:spPr>
          <a:xfrm rot="12887555">
            <a:off x="3125313" y="4994695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FF85167-131C-B7F8-4B56-030639B1526F}"/>
              </a:ext>
            </a:extLst>
          </p:cNvPr>
          <p:cNvSpPr/>
          <p:nvPr/>
        </p:nvSpPr>
        <p:spPr>
          <a:xfrm rot="12887555">
            <a:off x="4145219" y="5005106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92508DEE-205B-F6CA-5808-F2C325EC12A3}"/>
              </a:ext>
            </a:extLst>
          </p:cNvPr>
          <p:cNvSpPr/>
          <p:nvPr/>
        </p:nvSpPr>
        <p:spPr>
          <a:xfrm rot="12887555">
            <a:off x="6602529" y="4996727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FCBA097-5B2E-D456-A066-D9E5DB8E9DD2}"/>
              </a:ext>
            </a:extLst>
          </p:cNvPr>
          <p:cNvSpPr/>
          <p:nvPr/>
        </p:nvSpPr>
        <p:spPr>
          <a:xfrm rot="12887555">
            <a:off x="7454506" y="4967231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8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5.3: ทำงานผ่านไฟล์ EXCEL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วิธีที่ 3: จัดการผ่าน Excel (Load &amp; Upload)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768096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ไฟล์เดียวจบ! รวมทั้ง วันที่รับ / วันกลับคลัง / หมวด / เหตุผล / จำนวนรับคืน / หน่วย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ช่วยให้ขนส่งสามารถดาวน์โหลดข้อมูลออกไปกรอกแบบ Offline ได้ ไม่ต้องคอยกดทีละหน้าบนเว็บ เหมาะกับการสรุปยอดสิ้นวัน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⬇️ ขั้นตอนที่ 1: ดาวน์โหลด (Load Data Excel)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ปรับตัวกรองที่หน้าเว็บตามที่ต้องการ (เช่น กรองเฉพาะสถานะ "มอบหมายแล้ว" หรือค้นหาเขตที่ต้องการ)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กดปุ่ม "⬇️ Load Data Excel"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จะได้ไฟล์ชื่อ vendor-template.xlsx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โครงสร้างคอลัมน์ในไฟล์: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ข้อมูลเดิม: เลข RG, ร้านค้า, จำนวนกล่อง/ชิ้น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ช่องที่ต้องกรอก: วันที่รับสินค้า (dd/mm/yyyy), วันที่กลับคลัง (dd/mm/yyyy), หมวด, เหตุผล, จำนวนที่รับคืน, หน่วย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1 ออเดอร์สามารถแตกได้หลายแถวตามจำนวนหมวด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2040" y="2194559"/>
            <a:ext cx="3337560" cy="46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⬆️ ขั้นตอนที่ 2: </a:t>
            </a:r>
            <a:r>
              <a:rPr lang="th-TH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กรอกข้อมูลและ</a:t>
            </a:r>
            <a:r>
              <a:rPr lang="en-US" sz="105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อัปโหลด</a:t>
            </a:r>
            <a:r>
              <a:rPr lang="th-TH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กลับเข้าระบบ</a:t>
            </a: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(Upload Data)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5146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กรอกข้อมูลเสร็จแล้ว ให้บันทึกไฟล์ Excel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กลับมาที่หน้า "งานของฉัน" คลิก "Choose File" แล้วเลือกไฟล์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กดปุ่ม "⬆️ Upload วันที่ + หมวด/เหตุผล/จำนวน"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ระบบจะทำการตรวจสอบความถูกต้อง: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บันทึกสำเร็จกี่รายการ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แจ้งเตือนหากมีงานที่ปิดแล้ว (ห้ามแก้)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แจ้งเตือนหากมีวันที่ผิดลำดับ</a:t>
            </a:r>
            <a:endParaRPr lang="en-US" sz="8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แจ้งเตือนหากไม่ใช่งานของตนเอง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7ADA-D8BE-2367-95DD-DC88B447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4B1B91-5702-BDF4-2438-6B37B1ABC87D}"/>
              </a:ext>
            </a:extLst>
          </p:cNvPr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5.3: ทำงานผ่านไฟล์ EXCEL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1740FB-B541-6054-624A-5C508C209E57}"/>
              </a:ext>
            </a:extLst>
          </p:cNvPr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ตัวอย่าง 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วิธีที่ 3: จัดการผ่าน Excel (Load &amp; Upload)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C5B950-4DB5-A525-6904-19456DF70EF2}"/>
              </a:ext>
            </a:extLst>
          </p:cNvPr>
          <p:cNvSpPr/>
          <p:nvPr/>
        </p:nvSpPr>
        <p:spPr>
          <a:xfrm>
            <a:off x="731520" y="932688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933338-3368-A2E9-8926-03647564374C}"/>
              </a:ext>
            </a:extLst>
          </p:cNvPr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0C2DA7-7B32-5A75-9E58-DE92EB8FB0C8}"/>
              </a:ext>
            </a:extLst>
          </p:cNvPr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FDF364B-4862-B5F3-FC16-62084D3E8FC1}"/>
              </a:ext>
            </a:extLst>
          </p:cNvPr>
          <p:cNvSpPr/>
          <p:nvPr/>
        </p:nvSpPr>
        <p:spPr>
          <a:xfrm>
            <a:off x="660064" y="10698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⬇️ ขั้นตอนที่ 1: ดาวน์โหลด (Load Data Excel)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184DED2-BCE7-0DBB-96B8-687EFCAEF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24" y="1335024"/>
            <a:ext cx="7315200" cy="1775496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69DEF4A6-9DFD-B38B-A638-7875E7A23DD7}"/>
              </a:ext>
            </a:extLst>
          </p:cNvPr>
          <p:cNvSpPr/>
          <p:nvPr/>
        </p:nvSpPr>
        <p:spPr>
          <a:xfrm rot="12887555">
            <a:off x="1817646" y="1969931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4A97D32-F49F-0174-62D8-18DBCFEB0013}"/>
              </a:ext>
            </a:extLst>
          </p:cNvPr>
          <p:cNvSpPr/>
          <p:nvPr/>
        </p:nvSpPr>
        <p:spPr>
          <a:xfrm>
            <a:off x="969152" y="3187412"/>
            <a:ext cx="360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ขั้นตอนที่</a:t>
            </a: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 : </a:t>
            </a:r>
            <a:r>
              <a:rPr lang="th-TH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เปิด </a:t>
            </a: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File </a:t>
            </a:r>
            <a:r>
              <a:rPr lang="th-TH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ขึ้นมากรอกข้อมูล และบันทึก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9DBBBE-8C37-607F-E9A6-F3CABD833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24" y="3545797"/>
            <a:ext cx="7082449" cy="69833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5C8ED89-6D16-7B45-3987-5E0BD56A7498}"/>
              </a:ext>
            </a:extLst>
          </p:cNvPr>
          <p:cNvSpPr/>
          <p:nvPr/>
        </p:nvSpPr>
        <p:spPr>
          <a:xfrm>
            <a:off x="4402442" y="3520336"/>
            <a:ext cx="3727631" cy="7852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81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C82C-AF18-D2B1-5A45-697D13B1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97465A-6733-25C2-8EBC-9838F59C62D6}"/>
              </a:ext>
            </a:extLst>
          </p:cNvPr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5.3: ทำงานผ่านไฟล์ EXCEL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7B921C-936A-80F3-9D91-335A81C887C3}"/>
              </a:ext>
            </a:extLst>
          </p:cNvPr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ตัวอย่าง 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8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</a:t>
            </a: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วิธีที่ 3: จัดการผ่าน Excel (Load &amp; Upload)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D9D508-658C-514E-D08F-C99EA01319F5}"/>
              </a:ext>
            </a:extLst>
          </p:cNvPr>
          <p:cNvSpPr/>
          <p:nvPr/>
        </p:nvSpPr>
        <p:spPr>
          <a:xfrm>
            <a:off x="731520" y="932688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0EFECB-42B9-FBAE-6476-9116F841810E}"/>
              </a:ext>
            </a:extLst>
          </p:cNvPr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5E872C-9715-112C-4FAA-7B3B4E2FA3AB}"/>
              </a:ext>
            </a:extLst>
          </p:cNvPr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C59FD308-6072-9AF7-69D1-4A80487CDFF8}"/>
              </a:ext>
            </a:extLst>
          </p:cNvPr>
          <p:cNvSpPr/>
          <p:nvPr/>
        </p:nvSpPr>
        <p:spPr>
          <a:xfrm>
            <a:off x="671267" y="1006809"/>
            <a:ext cx="4312516" cy="46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⬆️ </a:t>
            </a:r>
            <a:r>
              <a:rPr lang="en-US" sz="105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ขั้นตอนที่</a:t>
            </a: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 : </a:t>
            </a:r>
            <a:r>
              <a:rPr lang="en-US" sz="105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อัปโหลด</a:t>
            </a:r>
            <a:r>
              <a:rPr lang="th-TH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กลับเข้าระบบ</a:t>
            </a: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(Upload Data)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AB5A59-C783-00CC-41CC-91B6D5F7E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90" y="1374776"/>
            <a:ext cx="7315200" cy="123920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27BE85B-0BE2-CCFC-A667-786EF2436625}"/>
              </a:ext>
            </a:extLst>
          </p:cNvPr>
          <p:cNvSpPr/>
          <p:nvPr/>
        </p:nvSpPr>
        <p:spPr>
          <a:xfrm rot="12887555">
            <a:off x="2501932" y="2127473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9E5CDF-5F08-1A2A-8ED0-E9DC85B8C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90" y="2792892"/>
            <a:ext cx="3017844" cy="1828800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92CB6BFA-1C32-6CA9-14C9-4A10C24FCA06}"/>
              </a:ext>
            </a:extLst>
          </p:cNvPr>
          <p:cNvSpPr/>
          <p:nvPr/>
        </p:nvSpPr>
        <p:spPr>
          <a:xfrm rot="12887555">
            <a:off x="2862999" y="3442490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1A6650B-FE02-B7FF-D900-646470D57080}"/>
              </a:ext>
            </a:extLst>
          </p:cNvPr>
          <p:cNvSpPr/>
          <p:nvPr/>
        </p:nvSpPr>
        <p:spPr>
          <a:xfrm rot="12887555">
            <a:off x="3329281" y="4492437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14E741-AE1A-F918-E002-4B80B0766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884" y="3258023"/>
            <a:ext cx="4699170" cy="80635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14562DE-99F8-808A-92E8-EC76C00E8736}"/>
              </a:ext>
            </a:extLst>
          </p:cNvPr>
          <p:cNvSpPr/>
          <p:nvPr/>
        </p:nvSpPr>
        <p:spPr>
          <a:xfrm>
            <a:off x="2593372" y="2124980"/>
            <a:ext cx="3145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306B24-23A9-4BD6-97E1-4A327CDCE9F4}"/>
              </a:ext>
            </a:extLst>
          </p:cNvPr>
          <p:cNvSpPr/>
          <p:nvPr/>
        </p:nvSpPr>
        <p:spPr>
          <a:xfrm>
            <a:off x="2984189" y="3461144"/>
            <a:ext cx="3145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B1D9B3-C272-C34E-1634-1DCCBD134E11}"/>
              </a:ext>
            </a:extLst>
          </p:cNvPr>
          <p:cNvSpPr/>
          <p:nvPr/>
        </p:nvSpPr>
        <p:spPr>
          <a:xfrm>
            <a:off x="3420721" y="4470182"/>
            <a:ext cx="3145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21D7EA-E4F5-5E92-D2F7-1C14FE47B061}"/>
              </a:ext>
            </a:extLst>
          </p:cNvPr>
          <p:cNvSpPr/>
          <p:nvPr/>
        </p:nvSpPr>
        <p:spPr>
          <a:xfrm>
            <a:off x="8774799" y="3832322"/>
            <a:ext cx="3145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2576F55-F879-CD8F-6A01-1B69D2550C09}"/>
              </a:ext>
            </a:extLst>
          </p:cNvPr>
          <p:cNvSpPr/>
          <p:nvPr/>
        </p:nvSpPr>
        <p:spPr>
          <a:xfrm rot="12887555">
            <a:off x="8664704" y="3819490"/>
            <a:ext cx="182880" cy="1828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2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6: การติดตาม KPI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"KPI" — การติดตามประสิทธิภาพและเวลาเฉลี่ย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 CN TMS มีระบบประเมินตัวชี้วัดประสิทธิภาพ (KPI) อัตโนมัติ โดยวัดระยะเวลาเฉลี่ย (หน่วย: วัน) ยิ่งน้อยยิ่งดี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หากค่าเฉลี่ยเกินเกณฑ์ (เช่น เกิน 3 วัน) ตัวเลขจะเปลี่ยนเป็นสีแดงเตือนทันที: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505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ช่วงที่ 1️⃣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วันที่</a:t>
            </a: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Admin NEO </a:t>
            </a:r>
            <a:r>
              <a:rPr lang="en-US" sz="1000" b="1" dirty="0" err="1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พิมพ์</a:t>
            </a: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➔ รับสินค้า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ความเร็วในการเข้ารับงาน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นับตั้งแต่วันที่คลังสร้างเอกสาร จนถึงวันที่ขนส่งไปรับสินค้าจากร้านค้าจริง</a:t>
            </a:r>
            <a:endParaRPr lang="en-US" sz="78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เกณฑ์ปกติ: ≤ 3 วัน</a:t>
            </a:r>
            <a:endParaRPr lang="en-US" sz="78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ปัจจัย: ความพร้อมของรถขนส่งและการวางแผนคิว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346704" y="1600200"/>
            <a:ext cx="24505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83864" y="17190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ช่วงที่ 2️⃣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83864" y="19202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รับสินค้า ➔ นำกลับคลัง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83864" y="21762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ระยะเวลาดำเนินการขนส่ง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83864" y="24231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นับตั้งแต่วันที่รับสินค้า จนถึงวันที่นำสินค้ากลับมาถึงคลัง WH08</a:t>
            </a:r>
            <a:endParaRPr lang="en-US" sz="78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เกณฑ์ปกติ: ≤ 3 วัน</a:t>
            </a:r>
            <a:endParaRPr lang="en-US" sz="78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ปัจจัย: ระยะทางและการบริหารรอบรถขนส่ง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961888" y="1600200"/>
            <a:ext cx="24505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9048" y="17190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ช่วงที่ 3️⃣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99048" y="19202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รับสินค้า ➔ ปิดงาน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9048" y="21762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รวมจนจบกระบวนการ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99048" y="24231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นับตั้งแต่วันที่รับสินค้า จนถึงวันที่ทีมคลังสินค้า (GR) อัปโหลดเอกสารปิดงาน</a:t>
            </a:r>
            <a:endParaRPr lang="en-US" sz="78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เกณฑ์ปกติ: ≤ 3 วัน</a:t>
            </a:r>
            <a:endParaRPr lang="en-US" sz="78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ปัจจัย: ความถูกต้องของสินค้าและการเคลียร์ Remark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400" y="3749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ฟังก์ชันวิเคราะห์และดาวน์โหลดรายงาน (Drill-down &amp; Export)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0050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เลือกช่วงวันที่: กำหนด "ตั้งแต่วันที่พิมพ์" ถึง "ถึงวันที่พิมพ์" แล้วกด "ค้นหา"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เจาะดูรายออเดอร์: คลิกที่แถวสรุปของตนเอง ระบบจะแสดงตารางรายละเอียดออเดอร์ทุกใบพร้อมระยะเวลาของแต่ละใบ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ส่งออกรายงาน: กด "⬇️ Export สรุป" หรือ "⬇️ Export รายออเดอร์" เพื่อนำข้อมูลเป็น Excel ไปใช้วิเคราะห์ต่อ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</a:t>
            </a: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7: กฎระเบียบและข้อควรระวัง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กฎเหล็กและข้อควรระวังสำคัญ (Ironclad Rules &amp; FAQ)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วันที่รับสินค้าจริง: "ทำเสร็จแล้วค่อยกรอก"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ระบบจะไม่อนุญาตให้กรอกวันที่รับสินค้าล่วงหน้าเด็ดขาด (Max Date = วันนี้) ต้องไปรับของจริงก่อน จึงกลับมาคีย์ข้อมูล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1325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1500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วันกลับคลัง ต้องไม่น้อยกว่า วันที่รับสินค้า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71907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วันนำสินค้ากลับคืนคลัง (WH08) สามารถใส่วันล่วงหน้าได้ (แผนส่งของ) แต่ต้องมีค่ามากกว่าหรือเท่ากับวันที่รับสินค้าเสมอ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68680" y="29718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868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8308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หมวด "อื่นๆ" บังคับกรอกเหตุผลเสมอ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336499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หากเลือกหมวดเป็น "อื่นๆ" ระบบจะบังคับให้พิมพ์เหตุผลประกอบทุกครั้ง หากไม่พิมพ์จะไม่สามารถกดบันทึกได้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1500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งานที่ปิดแล้ว (Completed) แก้ไขวันที่ไม่ได้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36499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เมื่อทีมคลัง (GR) นำสินค้าเข้าระบบและปิดงานแล้ว สถานะจะถูกล็อกทันที </a:t>
            </a:r>
            <a:r>
              <a:rPr lang="en-US" sz="8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หากต้องการแก้ไขต้องแจ้ง</a:t>
            </a: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Admin NEO เท่านั้น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หากคลังแจ้งว่ามี Remark ค้างอยู่ ทำอย่างไร? ➔ ตรวจสอบสินค้า หากมีปัญหาประสานงานกับทีมคลัง WH08 เพื่อเคลียร์ของและปิดงาน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3172</Words>
  <Application>Microsoft Office PowerPoint</Application>
  <PresentationFormat>On-screen Show (16:9)</PresentationFormat>
  <Paragraphs>329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Order CN Management System (WH08)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คู่มือการใช้งานระบบ Order CN Management System (CN TMS) - สำหรับผู้รับเหมาขนส่ง (Vendor)</dc:title>
  <dc:subject>PptxGenJS Presentation</dc:subject>
  <dc:creator>CN TMS Team</dc:creator>
  <cp:lastModifiedBy>Rittichai Singnoi</cp:lastModifiedBy>
  <cp:revision>5</cp:revision>
  <dcterms:created xsi:type="dcterms:W3CDTF">2026-09-22T10:15:53Z</dcterms:created>
  <dcterms:modified xsi:type="dcterms:W3CDTF">2026-09-23T02:34:32Z</dcterms:modified>
</cp:coreProperties>
</file>